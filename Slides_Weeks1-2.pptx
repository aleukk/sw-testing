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Fundamentals of Software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Weeks 1–2: Foundations &amp; Planning</a:t>
            </a:r>
          </a:p>
          <a:p>
            <a:r>
              <a:t>Process Steps: Understand Requirements +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 – Session 1: Productive Failure + SDLC &amp;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Kickoff exercise: Explore &amp; test a small Todo/Webshop app</a:t>
            </a:r>
          </a:p>
          <a:p>
            <a:pPr>
              <a:defRPr sz="2000"/>
            </a:pPr>
            <a:r>
              <a:t>SDLC models: Waterfall, Agile/Scrum, V-Model</a:t>
            </a:r>
          </a:p>
          <a:p>
            <a:pPr>
              <a:defRPr sz="2000"/>
            </a:pPr>
            <a:r>
              <a:t>Testing levels: Unit, Integration, System, Acceptance</a:t>
            </a:r>
          </a:p>
          <a:p>
            <a:pPr>
              <a:defRPr sz="2000"/>
            </a:pPr>
            <a:r>
              <a:t>Manual vs. automated testing approaches</a:t>
            </a:r>
          </a:p>
          <a:p>
            <a:pPr>
              <a:defRPr sz="2000"/>
            </a:pPr>
            <a:r>
              <a:t>Lab: File first bug reports with steps, expected vs actual,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 – Session 2: Requirements, Risks &amp; Traceability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Requirements: functional vs. non-functional, user stories, acceptance criteria</a:t>
            </a:r>
          </a:p>
          <a:p>
            <a:pPr>
              <a:defRPr sz="2000"/>
            </a:pPr>
            <a:r>
              <a:t>Risk analysis: probability × impact matrix</a:t>
            </a:r>
          </a:p>
          <a:p>
            <a:pPr>
              <a:defRPr sz="2000"/>
            </a:pPr>
            <a:r>
              <a:t>Traceability: link stories ↔ tests</a:t>
            </a:r>
          </a:p>
          <a:p>
            <a:pPr>
              <a:defRPr sz="2000"/>
            </a:pPr>
            <a:r>
              <a:t>Lab: Draft REQS.md, RISKLOG.md, TRACEABILITY.csv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 – Session 3: Test Strategy &amp;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Scope, entry/exit criteria, test levels &amp; types</a:t>
            </a:r>
          </a:p>
          <a:p>
            <a:pPr>
              <a:defRPr sz="2000"/>
            </a:pPr>
            <a:r>
              <a:t>Smoke vs. regression suites</a:t>
            </a:r>
          </a:p>
          <a:p>
            <a:pPr>
              <a:defRPr sz="2000"/>
            </a:pPr>
            <a:r>
              <a:t>Manual vs. automated test mix</a:t>
            </a:r>
          </a:p>
          <a:p>
            <a:pPr>
              <a:defRPr sz="2000"/>
            </a:pPr>
            <a:r>
              <a:t>Lab: Write TESTPLAN.md; define SmokeSuite.csv &amp; RegressionSuite.csv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 – Session 4: TDD &amp; Static vs Dynamic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Static testing: code reviews, walkthroughs</a:t>
            </a:r>
          </a:p>
          <a:p>
            <a:pPr>
              <a:defRPr sz="2000"/>
            </a:pPr>
            <a:r>
              <a:t>Dynamic testing: executing code</a:t>
            </a:r>
          </a:p>
          <a:p>
            <a:pPr>
              <a:defRPr sz="2000"/>
            </a:pPr>
            <a:r>
              <a:t>TDD cycle: Red → Green → Refactor</a:t>
            </a:r>
          </a:p>
          <a:p>
            <a:pPr>
              <a:defRPr sz="2000"/>
            </a:pPr>
            <a:r>
              <a:t>Lab: TDD kata (pricing/validation) in PyTest/JUnit/Jest</a:t>
            </a:r>
          </a:p>
          <a:p>
            <a:pPr>
              <a:defRPr sz="2000"/>
            </a:pPr>
            <a:r>
              <a:t>Deliver: Passing unit tests + commit history showing TDD cycle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